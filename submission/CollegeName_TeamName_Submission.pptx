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68" r:id="rId18"/>
    <p:sldId id="269" r:id="rId19"/>
    <p:sldId id="270" r:id="rId20"/>
    <p:sldId id="271" r:id="rId21"/>
    <p:sldId id="272" r:id="rId22"/>
    <p:sldId id="273" r:id="rId23"/>
    <p:sldId id="274" r:id="rId24"/>
    <p:sldId id="280" r:id="rId30"/>
    <p:sldId id="275" r:id="rId25"/>
    <p:sldId id="276" r:id="rId26"/>
    <p:sldId id="277" r:id="rId27"/>
    <p:sldId id="278" r:id="rId28"/>
    <p:sldId id="279" r:id="rId29"/>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16" Type="http://schemas.openxmlformats.org/officeDocument/2006/relationships/slide" Target="slides/slide12.xml"/><Relationship Id="rId17" Type="http://customschemas.google.com/relationships/presentationmetadata" Target="metadata"/><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Theme 02. One sentence: FORGE turns a vague device complaint into a deeplinked, validated troubleshooting plan in under a millisecond, because the expensive work happens once at build time instead of on every request.</a:t>
            </a: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Lead with the one sentence. Then the three numbers. Do not read the slide.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row is a pitfall the guide itself lists in section 7. We are naming the failure modes before the judges do, and the next slide shows how each is closed mechanically.</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Walk left to right across the compile lane, then down. Emphasise that the gate is a hard admission boundary: a plan that fails any rule never enters the atlas.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thesis slide. The red stages are the ones that cost tokens and time on every request. Moving them left is the entire contribution.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If asked 'why not just prompt better' — because the guide itself says prompting is unreliable for word counts. We never ask a model to count words; we count them.</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polarity point is the one judges rarely think of: the catalog ships 138 enable entries and 138 disable entries. Text similarity alone happily picks the opposite one, which would flip the user's setting the wrong way. We read polarity off the entry and assert it in validationDeeplink.</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the limitation before they ask. Volunteering the 34.2% — and the measured frontier behind it — is worth more than hoping nobody reads the harness output.</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Ablation is the honest slide: the dense encoder alone accepts more matches than our hybrid, with similar mean agreement on this small corpus. We report it and explain why the path term still earns its place on deep trajectories.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63637E"/>
              </a:buClr>
              <a:buSzPts val="1600"/>
              <a:buFont typeface="Calibri"/>
              <a:buChar char="•"/>
            </a:pPr>
            <a:r>
              <a:rPr sz="1100">
                <a:solidFill>
                  <a:srgbClr val="202124"/>
                </a:solidFill>
                <a:latin typeface="Arial"/>
              </a:rPr>
              <a:t>Theme ID — 02  ·  Smart Guided Troubleshooting Engine</a:t>
            </a:r>
            <a:endParaRPr/>
          </a:p>
          <a:p>
            <a:r>
              <a:rPr sz="1100">
                <a:solidFill>
                  <a:srgbClr val="202124"/>
                </a:solidFill>
                <a:latin typeface="Arial"/>
              </a:rPr>
              <a:t>Team Name — SRM_Carrot</a:t>
            </a:r>
          </a:p>
          <a:p>
            <a:r>
              <a:rPr sz="1100">
                <a:solidFill>
                  <a:srgbClr val="202124"/>
                </a:solidFill>
                <a:latin typeface="Arial"/>
              </a:rPr>
              <a:t>College Name — SRMIST</a:t>
            </a:r>
          </a:p>
          <a:p>
            <a:r>
              <a:rPr sz="1100">
                <a:solidFill>
                  <a:srgbClr val="202124"/>
                </a:solidFill>
                <a:latin typeface="Arial"/>
              </a:rPr>
              <a:t>Members — Vijval Parakkat  ·  Aaron Anish Thadathil</a:t>
            </a:r>
          </a:p>
          <a:p>
            <a:r>
              <a:rPr sz="1100">
                <a:solidFill>
                  <a:srgbClr val="202124"/>
                </a:solidFill>
                <a:latin typeface="Arial"/>
              </a:rPr>
              <a:t>Submission repo — https://github.com/Alphacew/PRISM_GENAI_HACKATHON_Y2026</a:t>
            </a:r>
          </a:p>
        </p:txBody>
      </p:sp>
      <p:pic>
        <p:nvPicPr>
          <p:cNvPr descr="hero_network.png" id="96" name="Google Shape;96;p1"/>
          <p:cNvPicPr preferRelativeResize="0"/>
          <p:nvPr/>
        </p:nvPicPr>
        <p:blipFill rotWithShape="1">
          <a:blip r:embed="rId3">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Checklist- Updated on Public GitHub</a:t>
            </a:r>
            <a:endParaRPr/>
          </a:p>
        </p:txBody>
      </p:sp>
      <p:sp>
        <p:nvSpPr>
          <p:cNvPr id="156" name="Google Shape;15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0" marL="177800" rtl="0" algn="l">
              <a:lnSpc>
                <a:spcPct val="90000"/>
              </a:lnSpc>
              <a:spcBef>
                <a:spcPts val="0"/>
              </a:spcBef>
              <a:spcAft>
                <a:spcPts val="0"/>
              </a:spcAft>
              <a:buClr>
                <a:srgbClr val="63637E"/>
              </a:buClr>
              <a:buSzPts val="2800"/>
              <a:buChar char="•"/>
            </a:pPr>
            <a:r>
              <a:rPr sz="1400">
                <a:solidFill>
                  <a:srgbClr val="202124"/>
                </a:solidFill>
                <a:latin typeface="Arial"/>
              </a:rPr>
              <a:t>Working prototype code — public GitHub repo (Y)  ·  release tagged PRISM_GENAI_HACKATHON_Y2026</a:t>
            </a:r>
            <a:endParaRPr sz="2800"/>
          </a:p>
          <a:p>
            <a:r>
              <a:rPr sz="1400">
                <a:solidFill>
                  <a:srgbClr val="202124"/>
                </a:solidFill>
                <a:latin typeface="Arial"/>
              </a:rPr>
              <a:t>README with reproducible setup instructions (Y)  ·  Dockerfile and one-command reproduction (Y)</a:t>
            </a:r>
          </a:p>
          <a:p>
            <a:r>
              <a:rPr sz="1400">
                <a:solidFill>
                  <a:srgbClr val="202124"/>
                </a:solidFill>
                <a:latin typeface="Arial"/>
              </a:rPr>
              <a:t>Demo video, max 5 minutes (Y)  ·  YouTube link in the README</a:t>
            </a:r>
          </a:p>
          <a:p>
            <a:r>
              <a:rPr sz="1400">
                <a:solidFill>
                  <a:srgbClr val="202124"/>
                </a:solidFill>
                <a:latin typeface="Arial"/>
              </a:rPr>
              <a:t>Presentation file — PPT and PDF (Y)</a:t>
            </a:r>
          </a:p>
          <a:p>
            <a:r>
              <a:rPr sz="1400">
                <a:solidFill>
                  <a:srgbClr val="202124"/>
                </a:solidFill>
                <a:latin typeface="Arial"/>
              </a:rPr>
              <a:t>Evaluator artefacts — evaluation JSON, run logs, seeds and configuration (Y)</a:t>
            </a:r>
          </a:p>
          <a:p>
            <a:r>
              <a:rPr sz="1400">
                <a:solidFill>
                  <a:srgbClr val="202124"/>
                </a:solidFill>
                <a:latin typeface="Arial"/>
              </a:rPr>
              <a:t>AI usage disclosure form (Y)</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anchorCtr="0" anchor="ctr" bIns="0" lIns="0" spcFirstLastPara="1" rIns="0" wrap="square" tIns="0">
            <a:noAutofit/>
          </a:bodyPr>
          <a:lstStyle/>
          <a:p>
            <a:r>
              <a:t>Thank you</a:t>
            </a:r>
          </a:p>
        </p:txBody>
      </p:sp>
      <p:sp>
        <p:nvSpPr>
          <p:cNvPr id="163" name="Google Shape;163;p12"/>
          <p:cNvSpPr txBox="1"/>
          <p:nvPr/>
        </p:nvSpPr>
        <p:spPr>
          <a:xfrm>
            <a:off x="777240" y="5897880"/>
            <a:ext cx="10607040" cy="292608"/>
          </a:xfrm>
          <a:prstGeom prst="rect">
            <a:avLst/>
          </a:prstGeom>
          <a:noFill/>
          <a:ln>
            <a:noFill/>
          </a:ln>
        </p:spPr>
        <p:txBody>
          <a:bodyPr anchorCtr="0" anchor="ctr" bIns="0" lIns="0" spcFirstLastPara="1" rIns="0" wrap="square" tIns="0">
            <a:noAutofit/>
          </a:bodyPr>
          <a:lstStyle/>
          <a:p>
            <a:r>
              <a:rPr sz="1100">
                <a:solidFill>
                  <a:srgbClr val="5F6368"/>
                </a:solidFill>
                <a:latin typeface="Arial"/>
              </a:rPr>
              <a:t>Theme 02 — Smart Guided Troubleshooting Engine  ·  SRMIST SRM_Carrot  ·  prism@samsung.com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3000" b="1">
                <a:solidFill>
                  <a:srgbClr val="1428A0"/>
                </a:solidFill>
                <a:latin typeface="Arial"/>
              </a:rPr>
              <a:t>Theme 02 — Smart Guided Troubleshooting Engine</a:t>
            </a:r>
          </a:p>
        </p:txBody>
      </p:sp>
      <p:sp>
        <p:nvSpPr>
          <p:cNvPr id="3" name="TextBox 2"/>
          <p:cNvSpPr txBox="1"/>
          <p:nvPr/>
        </p:nvSpPr>
        <p:spPr>
          <a:xfrm>
            <a:off x="800000" y="1080000"/>
            <a:ext cx="10592000" cy="400000"/>
          </a:xfrm>
          <a:prstGeom prst="rect">
            <a:avLst/>
          </a:prstGeom>
          <a:noFill/>
        </p:spPr>
        <p:txBody>
          <a:bodyPr wrap="square" lIns="0" rIns="0" tIns="0" bIns="0">
            <a:spAutoFit/>
          </a:bodyPr>
          <a:lstStyle/>
          <a:p>
            <a:pPr algn="l">
              <a:lnSpc>
                <a:spcPct val="115000"/>
              </a:lnSpc>
            </a:pPr>
            <a:r>
              <a:rPr sz="1600" b="0">
                <a:solidFill>
                  <a:srgbClr val="5F6368"/>
                </a:solidFill>
                <a:latin typeface="Arial"/>
              </a:rPr>
              <a:t>Transforming vague device complaints into deeplinked, one-tap troubleshooting plans.</a:t>
            </a:r>
          </a:p>
        </p:txBody>
      </p:sp>
      <p:sp>
        <p:nvSpPr>
          <p:cNvPr id="4" name="TextBox 3"/>
          <p:cNvSpPr txBox="1"/>
          <p:nvPr/>
        </p:nvSpPr>
        <p:spPr>
          <a:xfrm>
            <a:off x="800000" y="1150000"/>
            <a:ext cx="10592000" cy="4600000"/>
          </a:xfrm>
          <a:prstGeom prst="rect">
            <a:avLst/>
          </a:prstGeom>
          <a:noFill/>
        </p:spPr>
        <p:txBody>
          <a:bodyPr wrap="square" lIns="0" rIns="0" tIns="0" bIns="0">
            <a:spAutoFit/>
          </a:bodyPr>
          <a:lstStyle/>
          <a:p>
            <a:pPr algn="l">
              <a:lnSpc>
                <a:spcPct val="115000"/>
              </a:lnSpc>
            </a:pPr>
            <a:r>
              <a:rPr sz="1400" b="0">
                <a:solidFill>
                  <a:srgbClr val="202124"/>
                </a:solidFill>
                <a:latin typeface="Arial"/>
              </a:rPr>
              <a:t>The problem</a:t>
            </a:r>
          </a:p>
          <a:p>
            <a:pPr algn="l">
              <a:lnSpc>
                <a:spcPct val="115000"/>
              </a:lnSpc>
            </a:pPr>
            <a:r>
              <a:rPr sz="1400" b="0">
                <a:solidFill>
                  <a:srgbClr val="202124"/>
                </a:solidFill>
                <a:latin typeface="Arial"/>
              </a:rPr>
              <a:t>A customer says "screen flickers and the battery dies fast". Behind that sentence sits a knowledge-base</a:t>
            </a:r>
          </a:p>
          <a:p>
            <a:pPr algn="l">
              <a:lnSpc>
                <a:spcPct val="115000"/>
              </a:lnSpc>
            </a:pPr>
            <a:r>
              <a:rPr sz="1400" b="0">
                <a:solidFill>
                  <a:srgbClr val="202124"/>
                </a:solidFill>
                <a:latin typeface="Arial"/>
              </a:rPr>
              <a:t>article, a diagnosis, a set of remediation steps and a long crawl through nested Settings menus.</a:t>
            </a:r>
          </a:p>
          <a:p>
            <a:pPr algn="l">
              <a:lnSpc>
                <a:spcPct val="115000"/>
              </a:lnSpc>
            </a:pPr>
            <a:r>
              <a:rPr sz="1400" b="0">
                <a:solidFill>
                  <a:srgbClr val="202124"/>
                </a:solidFill>
                <a:latin typeface="Arial"/>
              </a:rPr>
              <a:t>Today a support agent does that triage by hand: roughly 15 minutes per scenario, across millions of calls.</a:t>
            </a:r>
          </a:p>
          <a:p>
            <a:pPr algn="l">
              <a:lnSpc>
                <a:spcPct val="115000"/>
              </a:lnSpc>
            </a:pPr>
          </a:p>
          <a:p>
            <a:pPr algn="l">
              <a:lnSpc>
                <a:spcPct val="115000"/>
              </a:lnSpc>
            </a:pPr>
            <a:r>
              <a:rPr sz="1400" b="0">
                <a:solidFill>
                  <a:srgbClr val="202124"/>
                </a:solidFill>
                <a:latin typeface="Arial"/>
              </a:rPr>
              <a:t>What the guide asks for</a:t>
            </a:r>
          </a:p>
          <a:p>
            <a:pPr algn="l">
              <a:lnSpc>
                <a:spcPct val="115000"/>
              </a:lnSpc>
            </a:pPr>
            <a:r>
              <a:rPr sz="1400" b="0">
                <a:solidFill>
                  <a:srgbClr val="202124"/>
                </a:solidFill>
                <a:latin typeface="Arial"/>
              </a:rPr>
              <a:t>A two-stage engine — normalise the complaint, then return clean, ordered, schema-valid troubleshooting</a:t>
            </a:r>
          </a:p>
          <a:p>
            <a:pPr algn="l">
              <a:lnSpc>
                <a:spcPct val="115000"/>
              </a:lnSpc>
            </a:pPr>
            <a:r>
              <a:rPr sz="1400" b="0">
                <a:solidFill>
                  <a:srgbClr val="202124"/>
                </a:solidFill>
                <a:latin typeface="Arial"/>
              </a:rPr>
              <a:t>steps as JSON — with each step mapped to the exact in-app Settings deeplink so the fix is one tap away.</a:t>
            </a:r>
          </a:p>
          <a:p>
            <a:pPr algn="l">
              <a:lnSpc>
                <a:spcPct val="115000"/>
              </a:lnSpc>
            </a:pPr>
            <a:r>
              <a:rPr sz="1400" b="0">
                <a:solidFill>
                  <a:srgbClr val="202124"/>
                </a:solidFill>
                <a:latin typeface="Arial"/>
              </a:rPr>
              <a:t>A fast-path cache must answer previously seen issues in under 300 ms.</a:t>
            </a:r>
          </a:p>
          <a:p>
            <a:pPr algn="l">
              <a:lnSpc>
                <a:spcPct val="115000"/>
              </a:lnSpc>
            </a:pPr>
          </a:p>
          <a:p>
            <a:pPr algn="l">
              <a:lnSpc>
                <a:spcPct val="115000"/>
              </a:lnSpc>
            </a:pPr>
            <a:r>
              <a:rPr sz="1400" b="0">
                <a:solidFill>
                  <a:srgbClr val="202124"/>
                </a:solidFill>
                <a:latin typeface="Arial"/>
              </a:rPr>
              <a:t>What we built</a:t>
            </a:r>
          </a:p>
          <a:p>
            <a:pPr algn="l">
              <a:lnSpc>
                <a:spcPct val="115000"/>
              </a:lnSpc>
            </a:pPr>
            <a:r>
              <a:rPr sz="1400" b="0">
                <a:solidFill>
                  <a:srgbClr val="202124"/>
                </a:solidFill>
                <a:latin typeface="Arial"/>
              </a:rPr>
              <a:t>FORGE: a compile-time plan atlas plus a model-free serving path. The optimisation work — structure</a:t>
            </a:r>
          </a:p>
          <a:p>
            <a:pPr algn="l">
              <a:lnSpc>
                <a:spcPct val="115000"/>
              </a:lnSpc>
            </a:pPr>
            <a:r>
              <a:rPr sz="1400" b="0">
                <a:solidFill>
                  <a:srgbClr val="202124"/>
                </a:solidFill>
                <a:latin typeface="Arial"/>
              </a:rPr>
              <a:t>extraction, deeplink resolution, constraint enforcement — runs once per corpus revision. Every request</a:t>
            </a:r>
          </a:p>
          <a:p>
            <a:pPr algn="l">
              <a:lnSpc>
                <a:spcPct val="115000"/>
              </a:lnSpc>
            </a:pPr>
            <a:r>
              <a:rPr sz="1400" b="0">
                <a:solidFill>
                  <a:srgbClr val="202124"/>
                </a:solidFill>
                <a:latin typeface="Arial"/>
              </a:rPr>
              <a:t>after that is a lookup.</a:t>
            </a:r>
          </a:p>
        </p:txBody>
      </p:sp>
      <p:sp>
        <p:nvSpPr>
          <p:cNvPr id="5" name="Rounded Rectangle 4"/>
          <p:cNvSpPr/>
          <p:nvPr/>
        </p:nvSpPr>
        <p:spPr>
          <a:xfrm>
            <a:off x="800000" y="6100000"/>
            <a:ext cx="3600000" cy="480000"/>
          </a:xfrm>
          <a:prstGeom prst="roundRect">
            <a:avLst/>
          </a:prstGeom>
          <a:solidFill>
            <a:srgbClr val="E6F4EA"/>
          </a:solidFill>
          <a:ln>
            <a:solidFill>
              <a:srgbClr val="E6F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9D58"/>
                </a:solidFill>
                <a:latin typeface="Arial"/>
              </a:rPr>
              <a:t>P95 7 ms cold  ·  P50 0.41 ms served</a:t>
            </a:r>
          </a:p>
        </p:txBody>
      </p:sp>
      <p:sp>
        <p:nvSpPr>
          <p:cNvPr id="6" name="Rounded Rectangle 5"/>
          <p:cNvSpPr/>
          <p:nvPr/>
        </p:nvSpPr>
        <p:spPr>
          <a:xfrm>
            <a:off x="4550000" y="6100000"/>
            <a:ext cx="3200000" cy="480000"/>
          </a:xfrm>
          <a:prstGeom prst="roundRect">
            <a:avLst/>
          </a:prstGeom>
          <a:solidFill>
            <a:srgbClr val="E6F4EA"/>
          </a:solidFill>
          <a:ln>
            <a:solidFill>
              <a:srgbClr val="E6F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0F9D58"/>
                </a:solidFill>
                <a:latin typeface="Arial"/>
              </a:rPr>
              <a:t>100% schema conformance</a:t>
            </a:r>
          </a:p>
        </p:txBody>
      </p:sp>
      <p:sp>
        <p:nvSpPr>
          <p:cNvPr id="7" name="Rounded Rectangle 6"/>
          <p:cNvSpPr/>
          <p:nvPr/>
        </p:nvSpPr>
        <p:spPr>
          <a:xfrm>
            <a:off x="7900000" y="6100000"/>
            <a:ext cx="2400000" cy="480000"/>
          </a:xfrm>
          <a:prstGeom prst="round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1428A0"/>
                </a:solidFill>
                <a:latin typeface="Arial"/>
              </a:rPr>
              <a:t>$0.00 per query</a:t>
            </a:r>
          </a:p>
        </p:txBody>
      </p:sp>
      <p:sp>
        <p:nvSpPr>
          <p:cNvPr id="8" name="Rounded Rectangle 7"/>
          <p:cNvSpPr/>
          <p:nvPr/>
        </p:nvSpPr>
        <p:spPr>
          <a:xfrm>
            <a:off x="10450000" y="6100000"/>
            <a:ext cx="1500000" cy="480000"/>
          </a:xfrm>
          <a:prstGeom prst="roundRect">
            <a:avLst/>
          </a:prstGeom>
          <a:solidFill>
            <a:srgbClr val="E6F4EA"/>
          </a:solidFill>
          <a:ln>
            <a:solidFill>
              <a:srgbClr val="E6F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9D58"/>
                </a:solidFill>
                <a:latin typeface="Arial"/>
              </a:rPr>
              <a:t>0 URL leaks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3000" b="1">
                <a:solidFill>
                  <a:srgbClr val="1428A0"/>
                </a:solidFill>
                <a:latin typeface="Arial"/>
              </a:rPr>
              <a:t>Existing Solutions &amp; Gaps</a:t>
            </a:r>
          </a:p>
        </p:txBody>
      </p:sp>
      <p:graphicFrame>
        <p:nvGraphicFramePr>
          <p:cNvPr id="3" name="Table 2"/>
          <p:cNvGraphicFramePr>
            <a:graphicFrameLocks noGrp="1"/>
          </p:cNvGraphicFramePr>
          <p:nvPr/>
        </p:nvGraphicFramePr>
        <p:xfrm>
          <a:off x="800000" y="1150000"/>
          <a:ext cx="10592000" cy="4700000"/>
        </p:xfrm>
        <a:graphic>
          <a:graphicData uri="http://schemas.openxmlformats.org/drawingml/2006/table">
            <a:tbl>
              <a:tblPr firstRow="1" bandRow="1">
                <a:tableStyleId>{5C22544A-7EE6-4342-B048-85BDC9FD1C3A}</a:tableStyleId>
              </a:tblPr>
              <a:tblGrid>
                <a:gridCol w="5200000"/>
                <a:gridCol w="5392000"/>
              </a:tblGrid>
              <a:tr h="783333">
                <a:tc>
                  <a:txBody>
                    <a:bodyPr/>
                    <a:lstStyle/>
                    <a:p>
                      <a:pPr>
                        <a:lnSpc>
                          <a:spcPct val="105000"/>
                        </a:lnSpc>
                      </a:pPr>
                      <a:r>
                        <a:rPr sz="1500" b="1">
                          <a:solidFill>
                            <a:srgbClr val="FFFFFF"/>
                          </a:solidFill>
                          <a:latin typeface="Arial"/>
                        </a:rPr>
                        <a:t>Where the textbook design loses</a:t>
                      </a:r>
                    </a:p>
                  </a:txBody>
                  <a:tcPr marL="90000" marR="90000" marT="40000" marB="40000">
                    <a:solidFill>
                      <a:srgbClr val="1428A0"/>
                    </a:solidFill>
                  </a:tcPr>
                </a:tc>
                <a:tc>
                  <a:txBody>
                    <a:bodyPr/>
                    <a:lstStyle/>
                    <a:p>
                      <a:pPr>
                        <a:lnSpc>
                          <a:spcPct val="105000"/>
                        </a:lnSpc>
                      </a:pPr>
                      <a:r>
                        <a:rPr sz="1500" b="1">
                          <a:solidFill>
                            <a:srgbClr val="FFFFFF"/>
                          </a:solidFill>
                          <a:latin typeface="Arial"/>
                        </a:rPr>
                        <a:t>What happens in practice</a:t>
                      </a:r>
                    </a:p>
                  </a:txBody>
                  <a:tcPr marL="90000" marR="90000" marT="40000" marB="40000">
                    <a:solidFill>
                      <a:srgbClr val="1428A0"/>
                    </a:solidFill>
                  </a:tcPr>
                </a:tc>
              </a:tr>
              <a:tr h="783333">
                <a:tc>
                  <a:txBody>
                    <a:bodyPr/>
                    <a:lstStyle/>
                    <a:p>
                      <a:pPr>
                        <a:lnSpc>
                          <a:spcPct val="105000"/>
                        </a:lnSpc>
                      </a:pPr>
                      <a:r>
                        <a:rPr sz="1150" b="0">
                          <a:solidFill>
                            <a:srgbClr val="202124"/>
                          </a:solidFill>
                          <a:latin typeface="Arial"/>
                        </a:rPr>
                        <a:t>Prompt the LLM per request to respect the schema</a:t>
                      </a:r>
                    </a:p>
                    <a:p>
                      <a:pPr>
                        <a:lnSpc>
                          <a:spcPct val="105000"/>
                        </a:lnSpc>
                      </a:pPr>
                      <a:r>
                        <a:rPr sz="1150" b="0">
                          <a:solidFill>
                            <a:srgbClr val="202124"/>
                          </a:solidFill>
                          <a:latin typeface="Arial"/>
                        </a:rPr>
                        <a:t>(goal syntax, 5–7 word descriptions, Title Case)</a:t>
                      </a:r>
                    </a:p>
                  </a:txBody>
                  <a:tcPr marL="90000" marR="90000" marT="40000" marB="40000">
                    <a:solidFill>
                      <a:srgbClr val="F8F9FF"/>
                    </a:solidFill>
                  </a:tcPr>
                </a:tc>
                <a:tc>
                  <a:txBody>
                    <a:bodyPr/>
                    <a:lstStyle/>
                    <a:p>
                      <a:pPr>
                        <a:lnSpc>
                          <a:spcPct val="105000"/>
                        </a:lnSpc>
                      </a:pPr>
                      <a:r>
                        <a:rPr sz="1150" b="0">
                          <a:solidFill>
                            <a:srgbClr val="202124"/>
                          </a:solidFill>
                          <a:latin typeface="Arial"/>
                        </a:rPr>
                        <a:t>Word and format constraints are not reliably enforceable in natural language. Failures surface in production, after the request is already paid for.</a:t>
                      </a:r>
                    </a:p>
                  </a:txBody>
                  <a:tcPr marL="90000" marR="90000" marT="40000" marB="40000">
                    <a:solidFill>
                      <a:srgbClr val="F8F9FF"/>
                    </a:solidFill>
                  </a:tcPr>
                </a:tc>
              </a:tr>
              <a:tr h="783333">
                <a:tc>
                  <a:txBody>
                    <a:bodyPr/>
                    <a:lstStyle/>
                    <a:p>
                      <a:pPr>
                        <a:lnSpc>
                          <a:spcPct val="105000"/>
                        </a:lnSpc>
                      </a:pPr>
                      <a:r>
                        <a:rPr sz="1150" b="0">
                          <a:solidFill>
                            <a:srgbClr val="202124"/>
                          </a:solidFill>
                          <a:latin typeface="Arial"/>
                        </a:rPr>
                        <a:t>Rank the deeplink catalog by text similarity</a:t>
                      </a:r>
                    </a:p>
                    <a:p>
                      <a:pPr>
                        <a:lnSpc>
                          <a:spcPct val="105000"/>
                        </a:lnSpc>
                      </a:pPr>
                      <a:r>
                        <a:rPr sz="1150" b="0">
                          <a:solidFill>
                            <a:srgbClr val="202124"/>
                          </a:solidFill>
                          <a:latin typeface="Arial"/>
                        </a:rPr>
                        <a:t>to the whole action</a:t>
                      </a:r>
                    </a:p>
                  </a:txBody>
                  <a:tcPr marL="90000" marR="90000" marT="40000" marB="40000">
                    <a:solidFill>
                      <a:srgbClr val="F8F9FF"/>
                    </a:solidFill>
                  </a:tcPr>
                </a:tc>
                <a:tc>
                  <a:txBody>
                    <a:bodyPr/>
                    <a:lstStyle/>
                    <a:p>
                      <a:pPr>
                        <a:lnSpc>
                          <a:spcPct val="105000"/>
                        </a:lnSpc>
                      </a:pPr>
                      <a:r>
                        <a:rPr sz="1150" b="0">
                          <a:solidFill>
                            <a:srgbClr val="202124"/>
                          </a:solidFill>
                          <a:latin typeface="Arial"/>
                        </a:rPr>
                        <a:t>Generic parent-menu entries share vocabulary with everything, so they out-rank the exact screen. This is the guide's own listed pitfall.</a:t>
                      </a:r>
                    </a:p>
                  </a:txBody>
                  <a:tcPr marL="90000" marR="90000" marT="40000" marB="40000">
                    <a:solidFill>
                      <a:srgbClr val="F8F9FF"/>
                    </a:solidFill>
                  </a:tcPr>
                </a:tc>
              </a:tr>
              <a:tr h="783333">
                <a:tc>
                  <a:txBody>
                    <a:bodyPr/>
                    <a:lstStyle/>
                    <a:p>
                      <a:pPr>
                        <a:lnSpc>
                          <a:spcPct val="105000"/>
                        </a:lnSpc>
                      </a:pPr>
                      <a:r>
                        <a:rPr sz="1150" b="0">
                          <a:solidFill>
                            <a:srgbClr val="202124"/>
                          </a:solidFill>
                          <a:latin typeface="Arial"/>
                        </a:rPr>
                        <a:t>Key the fast-path cache on the raw query string</a:t>
                      </a:r>
                    </a:p>
                  </a:txBody>
                  <a:tcPr marL="90000" marR="90000" marT="40000" marB="40000">
                    <a:solidFill>
                      <a:srgbClr val="F8F9FF"/>
                    </a:solidFill>
                  </a:tcPr>
                </a:tc>
                <a:tc>
                  <a:txBody>
                    <a:bodyPr/>
                    <a:lstStyle/>
                    <a:p>
                      <a:pPr>
                        <a:lnSpc>
                          <a:spcPct val="105000"/>
                        </a:lnSpc>
                      </a:pPr>
                      <a:r>
                        <a:rPr sz="1150" b="0">
                          <a:solidFill>
                            <a:srgbClr val="202124"/>
                          </a:solidFill>
                          <a:latin typeface="Arial"/>
                        </a:rPr>
                        <a:t>Paraphrases miss, so the cache never warms: the guide states exact-string keying drives latency and cost up.</a:t>
                      </a:r>
                    </a:p>
                  </a:txBody>
                  <a:tcPr marL="90000" marR="90000" marT="40000" marB="40000">
                    <a:solidFill>
                      <a:srgbClr val="F8F9FF"/>
                    </a:solidFill>
                  </a:tcPr>
                </a:tc>
              </a:tr>
              <a:tr h="783333">
                <a:tc>
                  <a:txBody>
                    <a:bodyPr/>
                    <a:lstStyle/>
                    <a:p>
                      <a:pPr>
                        <a:lnSpc>
                          <a:spcPct val="105000"/>
                        </a:lnSpc>
                      </a:pPr>
                      <a:r>
                        <a:rPr sz="1150" b="0">
                          <a:solidFill>
                            <a:srgbClr val="202124"/>
                          </a:solidFill>
                          <a:latin typeface="Arial"/>
                        </a:rPr>
                        <a:t>Treat the catalog's opaque URIs as searchable text</a:t>
                      </a:r>
                    </a:p>
                  </a:txBody>
                  <a:tcPr marL="90000" marR="90000" marT="40000" marB="40000">
                    <a:solidFill>
                      <a:srgbClr val="F8F9FF"/>
                    </a:solidFill>
                  </a:tcPr>
                </a:tc>
                <a:tc>
                  <a:txBody>
                    <a:bodyPr/>
                    <a:lstStyle/>
                    <a:p>
                      <a:pPr>
                        <a:lnSpc>
                          <a:spcPct val="105000"/>
                        </a:lnSpc>
                      </a:pPr>
                      <a:r>
                        <a:rPr sz="1150" b="0">
                          <a:solidFill>
                            <a:srgbClr val="202124"/>
                          </a:solidFill>
                          <a:latin typeface="Arial"/>
                        </a:rPr>
                        <a:t>bixby://masked/act/9f2c… is a token, not words. Matching on it is meaningless; the guide forbids it.</a:t>
                      </a:r>
                    </a:p>
                  </a:txBody>
                  <a:tcPr marL="90000" marR="90000" marT="40000" marB="40000">
                    <a:solidFill>
                      <a:srgbClr val="F8F9FF"/>
                    </a:solidFill>
                  </a:tcPr>
                </a:tc>
              </a:tr>
              <a:tr h="783335">
                <a:tc>
                  <a:txBody>
                    <a:bodyPr/>
                    <a:lstStyle/>
                    <a:p>
                      <a:pPr>
                        <a:lnSpc>
                          <a:spcPct val="105000"/>
                        </a:lnSpc>
                      </a:pPr>
                      <a:r>
                        <a:rPr sz="1150" b="0">
                          <a:solidFill>
                            <a:srgbClr val="202124"/>
                          </a:solidFill>
                          <a:latin typeface="Arial"/>
                        </a:rPr>
                        <a:t>Return one Goal per request</a:t>
                      </a:r>
                    </a:p>
                  </a:txBody>
                  <a:tcPr marL="90000" marR="90000" marT="40000" marB="40000">
                    <a:solidFill>
                      <a:srgbClr val="F8F9FF"/>
                    </a:solidFill>
                  </a:tcPr>
                </a:tc>
                <a:tc>
                  <a:txBody>
                    <a:bodyPr/>
                    <a:lstStyle/>
                    <a:p>
                      <a:pPr>
                        <a:lnSpc>
                          <a:spcPct val="105000"/>
                        </a:lnSpc>
                      </a:pPr>
                      <a:r>
                        <a:rPr sz="1150" b="0">
                          <a:solidFill>
                            <a:srgbClr val="202124"/>
                          </a:solidFill>
                          <a:latin typeface="Arial"/>
                        </a:rPr>
                        <a:t>The contract's contexts field is a list. A single utterance routinely hides several distinct questions.</a:t>
                      </a:r>
                    </a:p>
                  </a:txBody>
                  <a:tcPr marL="90000" marR="90000" marT="40000" marB="40000">
                    <a:solidFill>
                      <a:srgbClr val="F8F9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Our Solutions &amp; Architecture Diagram</a:t>
            </a:r>
          </a:p>
        </p:txBody>
      </p:sp>
      <p:pic>
        <p:nvPicPr>
          <p:cNvPr id="3" name="Picture 2" descr="fig2_architecture.png"/>
          <p:cNvPicPr>
            <a:picLocks noChangeAspect="1"/>
          </p:cNvPicPr>
          <p:nvPr/>
        </p:nvPicPr>
        <p:blipFill>
          <a:blip r:embed="rId2"/>
          <a:stretch>
            <a:fillRect/>
          </a:stretch>
        </p:blipFill>
        <p:spPr>
          <a:xfrm>
            <a:off x="1909462" y="1000000"/>
            <a:ext cx="8373076" cy="4300000"/>
          </a:xfrm>
          <a:prstGeom prst="rect">
            <a:avLst/>
          </a:prstGeom>
        </p:spPr>
      </p:pic>
      <p:sp>
        <p:nvSpPr>
          <p:cNvPr id="4" name="TextBox 3"/>
          <p:cNvSpPr txBox="1"/>
          <p:nvPr/>
        </p:nvSpPr>
        <p:spPr>
          <a:xfrm>
            <a:off x="800000" y="5450000"/>
            <a:ext cx="10592000" cy="400000"/>
          </a:xfrm>
          <a:prstGeom prst="rect">
            <a:avLst/>
          </a:prstGeom>
          <a:noFill/>
        </p:spPr>
        <p:txBody>
          <a:bodyPr wrap="square" lIns="0" rIns="0" tIns="0" bIns="0">
            <a:spAutoFit/>
          </a:bodyPr>
          <a:lstStyle/>
          <a:p>
            <a:pPr algn="l">
              <a:lnSpc>
                <a:spcPct val="115000"/>
              </a:lnSpc>
            </a:pPr>
            <a:r>
              <a:rPr sz="1300" b="0">
                <a:solidFill>
                  <a:srgbClr val="202124"/>
                </a:solidFill>
                <a:latin typeface="Arial"/>
              </a:rPr>
              <a:t>The inversion: every expensive stage in the guide's roadmap runs once, at build time. The serving path has no model in it at all.</a:t>
            </a:r>
          </a:p>
        </p:txBody>
      </p:sp>
      <p:sp>
        <p:nvSpPr>
          <p:cNvPr id="5" name="TextBox 4"/>
          <p:cNvSpPr txBox="1"/>
          <p:nvPr/>
        </p:nvSpPr>
        <p:spPr>
          <a:xfrm>
            <a:off x="800000" y="5850000"/>
            <a:ext cx="10592000" cy="8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Compile lane: markdown structure parser → seven constraint gates → target + polarity resolver → contract audit → versioned, content-hashed atlas.</a:t>
            </a:r>
          </a:p>
        </p:txBody>
      </p:sp>
      <p:sp>
        <p:nvSpPr>
          <p:cNvPr id="6" name="TextBox 5"/>
          <p:cNvSpPr txBox="1"/>
          <p:nvPr/>
        </p:nvSpPr>
        <p:spPr>
          <a:xfrm>
            <a:off x="800000" y="6250000"/>
            <a:ext cx="10592000" cy="4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Serve lane: normalise → intent signature → exact or margin-gated semantic match → assemble and validate.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The architectural bet</a:t>
            </a:r>
          </a:p>
        </p:txBody>
      </p:sp>
      <p:pic>
        <p:nvPicPr>
          <p:cNvPr id="3" name="Picture 2" descr="fig1_stage_shift.png"/>
          <p:cNvPicPr>
            <a:picLocks noChangeAspect="1"/>
          </p:cNvPicPr>
          <p:nvPr/>
        </p:nvPicPr>
        <p:blipFill>
          <a:blip r:embed="rId2"/>
          <a:stretch>
            <a:fillRect/>
          </a:stretch>
        </p:blipFill>
        <p:spPr>
          <a:xfrm>
            <a:off x="1735286" y="1050000"/>
            <a:ext cx="8721428" cy="4100000"/>
          </a:xfrm>
          <a:prstGeom prst="rect">
            <a:avLst/>
          </a:prstGeom>
        </p:spPr>
      </p:pic>
      <p:sp>
        <p:nvSpPr>
          <p:cNvPr id="4" name="TextBox 3"/>
          <p:cNvSpPr txBox="1"/>
          <p:nvPr/>
        </p:nvSpPr>
        <p:spPr>
          <a:xfrm>
            <a:off x="800000" y="5300000"/>
            <a:ext cx="10592000" cy="500000"/>
          </a:xfrm>
          <a:prstGeom prst="rect">
            <a:avLst/>
          </a:prstGeom>
          <a:noFill/>
        </p:spPr>
        <p:txBody>
          <a:bodyPr wrap="square" lIns="0" rIns="0" tIns="0" bIns="0">
            <a:spAutoFit/>
          </a:bodyPr>
          <a:lstStyle/>
          <a:p>
            <a:pPr algn="l">
              <a:lnSpc>
                <a:spcPct val="115000"/>
              </a:lnSpc>
            </a:pPr>
            <a:r>
              <a:rPr sz="1350" b="0">
                <a:solidFill>
                  <a:srgbClr val="202124"/>
                </a:solidFill>
                <a:latin typeface="Arial"/>
              </a:rPr>
              <a:t>Same five stages. The only question is where they run — and that choice is what decides latency, cost, and whether schema compliance is a property or a hope.</a:t>
            </a:r>
          </a:p>
        </p:txBody>
      </p:sp>
      <p:sp>
        <p:nvSpPr>
          <p:cNvPr id="5" name="TextBox 4"/>
          <p:cNvSpPr txBox="1"/>
          <p:nvPr/>
        </p:nvSpPr>
        <p:spPr>
          <a:xfrm>
            <a:off x="800000" y="5900000"/>
            <a:ext cx="10592000" cy="400000"/>
          </a:xfrm>
          <a:prstGeom prst="rect">
            <a:avLst/>
          </a:prstGeom>
          <a:noFill/>
        </p:spPr>
        <p:txBody>
          <a:bodyPr wrap="square" lIns="0" rIns="0" tIns="0" bIns="0">
            <a:spAutoFit/>
          </a:bodyPr>
          <a:lstStyle/>
          <a:p>
            <a:pPr algn="l">
              <a:lnSpc>
                <a:spcPct val="115000"/>
              </a:lnSpc>
            </a:pPr>
            <a:r>
              <a:rPr sz="1250" b="0">
                <a:solidFill>
                  <a:srgbClr val="5F6368"/>
                </a:solidFill>
                <a:latin typeface="Arial"/>
              </a:rPr>
              <a:t>Measured: 0.98 ms P95 on an atlas hit  ·  7 ms P95 genuinely cold  ·  15.5 ms per query for the conventional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Constraints as invariants, not prompts</a:t>
            </a:r>
          </a:p>
        </p:txBody>
      </p:sp>
      <p:pic>
        <p:nvPicPr>
          <p:cNvPr id="3" name="Picture 2" descr="fig3_constraint_gates.png"/>
          <p:cNvPicPr>
            <a:picLocks noChangeAspect="1"/>
          </p:cNvPicPr>
          <p:nvPr/>
        </p:nvPicPr>
        <p:blipFill>
          <a:blip r:embed="rId2"/>
          <a:stretch>
            <a:fillRect/>
          </a:stretch>
        </p:blipFill>
        <p:spPr>
          <a:xfrm>
            <a:off x="500000" y="1001741"/>
            <a:ext cx="11192000" cy="4196517"/>
          </a:xfrm>
          <a:prstGeom prst="rect">
            <a:avLst/>
          </a:prstGeom>
        </p:spPr>
      </p:pic>
      <p:sp>
        <p:nvSpPr>
          <p:cNvPr id="4" name="TextBox 3"/>
          <p:cNvSpPr txBox="1"/>
          <p:nvPr/>
        </p:nvSpPr>
        <p:spPr>
          <a:xfrm>
            <a:off x="800000" y="5400000"/>
            <a:ext cx="10592000" cy="400000"/>
          </a:xfrm>
          <a:prstGeom prst="rect">
            <a:avLst/>
          </a:prstGeom>
          <a:noFill/>
        </p:spPr>
        <p:txBody>
          <a:bodyPr wrap="square" lIns="0" rIns="0" tIns="0" bIns="0">
            <a:spAutoFit/>
          </a:bodyPr>
          <a:lstStyle/>
          <a:p>
            <a:pPr algn="l">
              <a:lnSpc>
                <a:spcPct val="115000"/>
              </a:lnSpc>
            </a:pPr>
            <a:r>
              <a:rPr sz="1300" b="0">
                <a:solidFill>
                  <a:srgbClr val="202124"/>
                </a:solidFill>
                <a:latin typeface="Arial"/>
              </a:rPr>
              <a:t>Five of the guide's seven hygiene metrics are about string shape. String shape is a compiler's job, not a prompt's.</a:t>
            </a:r>
          </a:p>
        </p:txBody>
      </p:sp>
      <p:sp>
        <p:nvSpPr>
          <p:cNvPr id="5" name="TextBox 4"/>
          <p:cNvSpPr txBox="1"/>
          <p:nvPr/>
        </p:nvSpPr>
        <p:spPr>
          <a:xfrm>
            <a:off x="800000" y="5850000"/>
            <a:ext cx="10592000" cy="4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Deterministic generate-and-repair with no retry loop and no sampling: two builds of the same corpus are byte-identical.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500" b="1">
                <a:solidFill>
                  <a:srgbClr val="1428A0"/>
                </a:solidFill>
                <a:latin typeface="Arial"/>
              </a:rPr>
              <a:t>Deeplink resolution: exact screens, never parent menus</a:t>
            </a:r>
          </a:p>
        </p:txBody>
      </p:sp>
      <p:pic>
        <p:nvPicPr>
          <p:cNvPr id="3" name="Picture 2" descr="fig4_target_resolution.png"/>
          <p:cNvPicPr>
            <a:picLocks noChangeAspect="1"/>
          </p:cNvPicPr>
          <p:nvPr/>
        </p:nvPicPr>
        <p:blipFill>
          <a:blip r:embed="rId2"/>
          <a:stretch>
            <a:fillRect/>
          </a:stretch>
        </p:blipFill>
        <p:spPr>
          <a:xfrm>
            <a:off x="1110848" y="1000000"/>
            <a:ext cx="9970304" cy="4200000"/>
          </a:xfrm>
          <a:prstGeom prst="rect">
            <a:avLst/>
          </a:prstGeom>
        </p:spPr>
      </p:pic>
      <p:sp>
        <p:nvSpPr>
          <p:cNvPr id="4" name="TextBox 3"/>
          <p:cNvSpPr txBox="1"/>
          <p:nvPr/>
        </p:nvSpPr>
        <p:spPr>
          <a:xfrm>
            <a:off x="800000" y="5400000"/>
            <a:ext cx="10592000" cy="500000"/>
          </a:xfrm>
          <a:prstGeom prst="rect">
            <a:avLst/>
          </a:prstGeom>
          <a:noFill/>
        </p:spPr>
        <p:txBody>
          <a:bodyPr wrap="square" lIns="0" rIns="0" tIns="0" bIns="0">
            <a:spAutoFit/>
          </a:bodyPr>
          <a:lstStyle/>
          <a:p>
            <a:pPr algn="l">
              <a:lnSpc>
                <a:spcPct val="115000"/>
              </a:lnSpc>
            </a:pPr>
            <a:r>
              <a:rPr sz="1250" b="0">
                <a:solidFill>
                  <a:srgbClr val="202124"/>
                </a:solidFill>
                <a:latin typeface="Arial"/>
              </a:rPr>
              <a:t>The catalog publishes its structure in prose: 578 entries across four families — open, enable/disable pairs, update, and diagnostic. We parse the target and the polarity out of it.</a:t>
            </a:r>
          </a:p>
        </p:txBody>
      </p:sp>
      <p:sp>
        <p:nvSpPr>
          <p:cNvPr id="5" name="TextBox 4"/>
          <p:cNvSpPr txBox="1"/>
          <p:nvPr/>
        </p:nvSpPr>
        <p:spPr>
          <a:xfrm>
            <a:off x="800000" y="5950000"/>
            <a:ext cx="10592000" cy="5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Measured: 84.6% screen-resolution accuracy on the actions that accept a specific deeplink. Where the target cannot be justified we decline to the documented placeholder instead of guessing.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Demo &amp; Product Walkthrough</a:t>
            </a:r>
          </a:p>
        </p:txBody>
      </p:sp>
      <p:sp>
        <p:nvSpPr>
          <p:cNvPr id="3" name="TextBox 2"/>
          <p:cNvSpPr txBox="1"/>
          <p:nvPr/>
        </p:nvSpPr>
        <p:spPr>
          <a:xfrm>
            <a:off x="800000" y="1080000"/>
            <a:ext cx="10592000" cy="350000"/>
          </a:xfrm>
          <a:prstGeom prst="rect">
            <a:avLst/>
          </a:prstGeom>
          <a:noFill/>
        </p:spPr>
        <p:txBody>
          <a:bodyPr wrap="square" lIns="0" rIns="0" tIns="0" bIns="0">
            <a:spAutoFit/>
          </a:bodyPr>
          <a:lstStyle/>
          <a:p>
            <a:pPr algn="l">
              <a:lnSpc>
                <a:spcPct val="115000"/>
              </a:lnSpc>
            </a:pPr>
            <a:r>
              <a:rPr sz="1400" b="0">
                <a:solidFill>
                  <a:srgbClr val="5F6368"/>
                </a:solidFill>
                <a:latin typeface="Arial"/>
              </a:rPr>
              <a:t>Real transcript, captured from the running service (Docker, single container):</a:t>
            </a:r>
          </a:p>
        </p:txBody>
      </p:sp>
      <p:sp>
        <p:nvSpPr>
          <p:cNvPr id="4" name="TextBox 3"/>
          <p:cNvSpPr txBox="1"/>
          <p:nvPr/>
        </p:nvSpPr>
        <p:spPr>
          <a:xfrm>
            <a:off x="800000" y="1480000"/>
            <a:ext cx="10592000" cy="900000"/>
          </a:xfrm>
          <a:prstGeom prst="rect">
            <a:avLst/>
          </a:prstGeom>
          <a:solidFill>
            <a:srgbClr val="F1F3F4"/>
          </a:solidFill>
        </p:spPr>
        <p:txBody>
          <a:bodyPr wrap="none">
            <a:spAutoFit/>
          </a:bodyPr>
          <a:lstStyle/>
          <a:p>
            <a:r>
              <a:rPr sz="1250">
                <a:solidFill>
                  <a:srgbClr val="202124"/>
                </a:solidFill>
                <a:latin typeface="Consolas"/>
              </a:rPr>
              <a:t>POST /v1/troubleshoot</a:t>
            </a:r>
          </a:p>
          <a:p>
            <a:r>
              <a:rPr sz="1250">
                <a:solidFill>
                  <a:srgbClr val="202124"/>
                </a:solidFill>
                <a:latin typeface="Consolas"/>
              </a:rPr>
              <a:t>{"query": "phone swipe gestures wrong direction after app install",</a:t>
            </a:r>
          </a:p>
          <a:p>
            <a:r>
              <a:rPr sz="1250">
                <a:solidFill>
                  <a:srgbClr val="202124"/>
                </a:solidFill>
                <a:latin typeface="Consolas"/>
              </a:rPr>
              <a:t> "siis_response": "&lt;knowledge-base article&gt;"}</a:t>
            </a:r>
          </a:p>
        </p:txBody>
      </p:sp>
      <p:sp>
        <p:nvSpPr>
          <p:cNvPr id="5" name="TextBox 4"/>
          <p:cNvSpPr txBox="1"/>
          <p:nvPr/>
        </p:nvSpPr>
        <p:spPr>
          <a:xfrm>
            <a:off x="800000" y="2800000"/>
            <a:ext cx="10592000" cy="2600000"/>
          </a:xfrm>
          <a:prstGeom prst="rect">
            <a:avLst/>
          </a:prstGeom>
          <a:noFill/>
        </p:spPr>
        <p:txBody>
          <a:bodyPr wrap="square" lIns="0" rIns="0" tIns="0" bIns="0">
            <a:spAutoFit/>
          </a:bodyPr>
          <a:lstStyle/>
          <a:p>
            <a:pPr algn="l">
              <a:lnSpc>
                <a:spcPct val="115000"/>
              </a:lnSpc>
            </a:pPr>
            <a:r>
              <a:rPr sz="1100" b="0">
                <a:solidFill>
                  <a:srgbClr val="202124"/>
                </a:solidFill>
                <a:latin typeface="Arial"/>
              </a:rPr>
              <a:t>"contexts": []   (no match — fallback: no_match)</a:t>
            </a:r>
          </a:p>
        </p:txBody>
      </p:sp>
      <p:sp>
        <p:nvSpPr>
          <p:cNvPr id="6" name="TextBox 5"/>
          <p:cNvSpPr txBox="1"/>
          <p:nvPr/>
        </p:nvSpPr>
        <p:spPr>
          <a:xfrm>
            <a:off x="800000" y="5600000"/>
            <a:ext cx="10592000" cy="350000"/>
          </a:xfrm>
          <a:prstGeom prst="rect">
            <a:avLst/>
          </a:prstGeom>
          <a:noFill/>
        </p:spPr>
        <p:txBody>
          <a:bodyPr wrap="square" lIns="0" rIns="0" tIns="0" bIns="0">
            <a:spAutoFit/>
          </a:bodyPr>
          <a:lstStyle/>
          <a:p>
            <a:pPr algn="l">
              <a:lnSpc>
                <a:spcPct val="115000"/>
              </a:lnSpc>
            </a:pPr>
            <a:r>
              <a:rPr sz="1200" b="1">
                <a:solidFill>
                  <a:srgbClr val="1428A0"/>
                </a:solidFill>
                <a:latin typeface="Arial"/>
              </a:rPr>
              <a:t>Demo video (Drive link): https://drive.google.com/drive/folders/1QrjJKvw05YEvInxOWxkgEMnecfP9hlbw?usp=sharing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Tools and Tech Stack Used</a:t>
            </a:r>
          </a:p>
        </p:txBody>
      </p:sp>
      <p:sp>
        <p:nvSpPr>
          <p:cNvPr id="3" name="TextBox 2"/>
          <p:cNvSpPr txBox="1"/>
          <p:nvPr/>
        </p:nvSpPr>
        <p:spPr>
          <a:xfrm>
            <a:off x="800000" y="110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Language / runtime</a:t>
            </a:r>
          </a:p>
        </p:txBody>
      </p:sp>
      <p:sp>
        <p:nvSpPr>
          <p:cNvPr id="4" name="TextBox 3"/>
          <p:cNvSpPr txBox="1"/>
          <p:nvPr/>
        </p:nvSpPr>
        <p:spPr>
          <a:xfrm>
            <a:off x="3500000" y="110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Python 3.12, fully CPU-only — no GPU requirement anywhere in the pipeline</a:t>
            </a:r>
          </a:p>
        </p:txBody>
      </p:sp>
      <p:sp>
        <p:nvSpPr>
          <p:cNvPr id="5" name="TextBox 4"/>
          <p:cNvSpPr txBox="1"/>
          <p:nvPr/>
        </p:nvSpPr>
        <p:spPr>
          <a:xfrm>
            <a:off x="800000" y="172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Plan compiler</a:t>
            </a:r>
          </a:p>
        </p:txBody>
      </p:sp>
      <p:sp>
        <p:nvSpPr>
          <p:cNvPr id="6" name="TextBox 5"/>
          <p:cNvSpPr txBox="1"/>
          <p:nvPr/>
        </p:nvSpPr>
        <p:spPr>
          <a:xfrm>
            <a:off x="3500000" y="172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Deterministic markdown parser + constraint compiler; no LLM in the build loop</a:t>
            </a:r>
          </a:p>
        </p:txBody>
      </p:sp>
      <p:sp>
        <p:nvSpPr>
          <p:cNvPr id="7" name="TextBox 6"/>
          <p:cNvSpPr txBox="1"/>
          <p:nvPr/>
        </p:nvSpPr>
        <p:spPr>
          <a:xfrm>
            <a:off x="800000" y="234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Retrieval</a:t>
            </a:r>
          </a:p>
        </p:txBody>
      </p:sp>
      <p:sp>
        <p:nvSpPr>
          <p:cNvPr id="8" name="TextBox 7"/>
          <p:cNvSpPr txBox="1"/>
          <p:nvPr/>
        </p:nvSpPr>
        <p:spPr>
          <a:xfrm>
            <a:off x="3500000" y="234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Okapi BM25 plus a character n-gram dense encoder (numpy in-house); pluggable Model2Vec static embeddings behind the same interface</a:t>
            </a:r>
          </a:p>
        </p:txBody>
      </p:sp>
      <p:sp>
        <p:nvSpPr>
          <p:cNvPr id="9" name="TextBox 8"/>
          <p:cNvSpPr txBox="1"/>
          <p:nvPr/>
        </p:nvSpPr>
        <p:spPr>
          <a:xfrm>
            <a:off x="800000" y="296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Intent cache</a:t>
            </a:r>
          </a:p>
        </p:txBody>
      </p:sp>
      <p:sp>
        <p:nvSpPr>
          <p:cNvPr id="10" name="TextBox 9"/>
          <p:cNvSpPr txBox="1"/>
          <p:nvPr/>
        </p:nvSpPr>
        <p:spPr>
          <a:xfrm>
            <a:off x="3500000" y="296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Normalised intent signature → SHA-1 exact tier, then margin-gated kNN over alias embeddings for unseen paraphrases</a:t>
            </a:r>
          </a:p>
        </p:txBody>
      </p:sp>
      <p:sp>
        <p:nvSpPr>
          <p:cNvPr id="11" name="TextBox 10"/>
          <p:cNvSpPr txBox="1"/>
          <p:nvPr/>
        </p:nvSpPr>
        <p:spPr>
          <a:xfrm>
            <a:off x="800000" y="358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Contract</a:t>
            </a:r>
          </a:p>
        </p:txBody>
      </p:sp>
      <p:sp>
        <p:nvSpPr>
          <p:cNvPr id="12" name="TextBox 11"/>
          <p:cNvSpPr txBox="1"/>
          <p:nvPr/>
        </p:nvSpPr>
        <p:spPr>
          <a:xfrm>
            <a:off x="3500000" y="358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Pydantic v2 — the organisers' schema.py used verbatim as the type contract</a:t>
            </a:r>
          </a:p>
        </p:txBody>
      </p:sp>
      <p:sp>
        <p:nvSpPr>
          <p:cNvPr id="13" name="TextBox 12"/>
          <p:cNvSpPr txBox="1"/>
          <p:nvPr/>
        </p:nvSpPr>
        <p:spPr>
          <a:xfrm>
            <a:off x="800000" y="420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Service</a:t>
            </a:r>
          </a:p>
        </p:txBody>
      </p:sp>
      <p:sp>
        <p:nvSpPr>
          <p:cNvPr id="14" name="TextBox 13"/>
          <p:cNvSpPr txBox="1"/>
          <p:nvPr/>
        </p:nvSpPr>
        <p:spPr>
          <a:xfrm>
            <a:off x="3500000" y="420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FastAPI + Uvicorn, /v1/troubleshoot, /health, /v1/metrics</a:t>
            </a:r>
          </a:p>
        </p:txBody>
      </p:sp>
      <p:sp>
        <p:nvSpPr>
          <p:cNvPr id="15" name="TextBox 14"/>
          <p:cNvSpPr txBox="1"/>
          <p:nvPr/>
        </p:nvSpPr>
        <p:spPr>
          <a:xfrm>
            <a:off x="800000" y="482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Measurement</a:t>
            </a:r>
          </a:p>
        </p:txBody>
      </p:sp>
      <p:sp>
        <p:nvSpPr>
          <p:cNvPr id="16" name="TextBox 15"/>
          <p:cNvSpPr txBox="1"/>
          <p:nvPr/>
        </p:nvSpPr>
        <p:spPr>
          <a:xfrm>
            <a:off x="3500000" y="482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In-house harness: compliance, latency percentiles, cache efficacy, four-row ablation</a:t>
            </a:r>
          </a:p>
        </p:txBody>
      </p:sp>
      <p:sp>
        <p:nvSpPr>
          <p:cNvPr id="17" name="TextBox 16"/>
          <p:cNvSpPr txBox="1"/>
          <p:nvPr/>
        </p:nvSpPr>
        <p:spPr>
          <a:xfrm>
            <a:off x="800000" y="5440000"/>
            <a:ext cx="2600000" cy="340000"/>
          </a:xfrm>
          <a:prstGeom prst="rect">
            <a:avLst/>
          </a:prstGeom>
          <a:noFill/>
        </p:spPr>
        <p:txBody>
          <a:bodyPr wrap="square" lIns="0" rIns="0" tIns="0" bIns="0">
            <a:spAutoFit/>
          </a:bodyPr>
          <a:lstStyle/>
          <a:p>
            <a:pPr algn="l">
              <a:lnSpc>
                <a:spcPct val="115000"/>
              </a:lnSpc>
            </a:pPr>
            <a:r>
              <a:rPr sz="1250" b="1">
                <a:solidFill>
                  <a:srgbClr val="1428A0"/>
                </a:solidFill>
                <a:latin typeface="Arial"/>
              </a:rPr>
              <a:t>Packaging</a:t>
            </a:r>
          </a:p>
        </p:txBody>
      </p:sp>
      <p:sp>
        <p:nvSpPr>
          <p:cNvPr id="18" name="TextBox 17"/>
          <p:cNvSpPr txBox="1"/>
          <p:nvPr/>
        </p:nvSpPr>
        <p:spPr>
          <a:xfrm>
            <a:off x="3500000" y="5440000"/>
            <a:ext cx="7892000" cy="340000"/>
          </a:xfrm>
          <a:prstGeom prst="rect">
            <a:avLst/>
          </a:prstGeom>
          <a:noFill/>
        </p:spPr>
        <p:txBody>
          <a:bodyPr wrap="square" lIns="0" rIns="0" tIns="0" bIns="0">
            <a:spAutoFit/>
          </a:bodyPr>
          <a:lstStyle/>
          <a:p>
            <a:pPr algn="l">
              <a:lnSpc>
                <a:spcPct val="115000"/>
              </a:lnSpc>
            </a:pPr>
            <a:r>
              <a:rPr sz="1200" b="0">
                <a:solidFill>
                  <a:srgbClr val="202124"/>
                </a:solidFill>
                <a:latin typeface="Arial"/>
              </a:rPr>
              <a:t>Dockerfile, one-command reproduction, pinned seeds and versions</a:t>
            </a:r>
          </a:p>
        </p:txBody>
      </p:sp>
      <p:sp>
        <p:nvSpPr>
          <p:cNvPr id="19" name="TextBox 18"/>
          <p:cNvSpPr txBox="1"/>
          <p:nvPr/>
        </p:nvSpPr>
        <p:spPr>
          <a:xfrm>
            <a:off x="800000" y="6200000"/>
            <a:ext cx="10592000" cy="400000"/>
          </a:xfrm>
          <a:prstGeom prst="rect">
            <a:avLst/>
          </a:prstGeom>
          <a:noFill/>
        </p:spPr>
        <p:txBody>
          <a:bodyPr wrap="square" lIns="0" rIns="0" tIns="0" bIns="0">
            <a:spAutoFit/>
          </a:bodyPr>
          <a:lstStyle/>
          <a:p>
            <a:pPr algn="l">
              <a:lnSpc>
                <a:spcPct val="115000"/>
              </a:lnSpc>
            </a:pPr>
            <a:r>
              <a:rPr sz="1200" b="0">
                <a:solidFill>
                  <a:srgbClr val="5F6368"/>
                </a:solidFill>
                <a:latin typeface="Arial"/>
              </a:rPr>
              <a:t>The submitted contract file is the organisers' own schema.py, unmodified. Every response is validated against their definitions, not ours.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Impact &amp; Use Case</a:t>
            </a:r>
          </a:p>
        </p:txBody>
      </p:sp>
      <p:sp>
        <p:nvSpPr>
          <p:cNvPr id="3" name="TextBox 2"/>
          <p:cNvSpPr txBox="1"/>
          <p:nvPr/>
        </p:nvSpPr>
        <p:spPr>
          <a:xfrm>
            <a:off x="800000" y="1080000"/>
            <a:ext cx="10592000" cy="350000"/>
          </a:xfrm>
          <a:prstGeom prst="rect">
            <a:avLst/>
          </a:prstGeom>
          <a:noFill/>
        </p:spPr>
        <p:txBody>
          <a:bodyPr wrap="square" lIns="0" rIns="0" tIns="0" bIns="0">
            <a:spAutoFit/>
          </a:bodyPr>
          <a:lstStyle/>
          <a:p>
            <a:pPr algn="l">
              <a:lnSpc>
                <a:spcPct val="115000"/>
              </a:lnSpc>
            </a:pPr>
            <a:r>
              <a:rPr sz="1400" b="0">
                <a:solidFill>
                  <a:srgbClr val="5F6368"/>
                </a:solidFill>
                <a:latin typeface="Arial"/>
              </a:rPr>
              <a:t>Unit economics, from the guide's own framing:</a:t>
            </a:r>
          </a:p>
        </p:txBody>
      </p:sp>
      <p:sp>
        <p:nvSpPr>
          <p:cNvPr id="4" name="Rounded Rectangle 3"/>
          <p:cNvSpPr/>
          <p:nvPr/>
        </p:nvSpPr>
        <p:spPr>
          <a:xfrm>
            <a:off x="800000" y="1550000"/>
            <a:ext cx="2700000" cy="700000"/>
          </a:xfrm>
          <a:prstGeom prst="roundRect">
            <a:avLst/>
          </a:prstGeom>
          <a:solidFill>
            <a:srgbClr val="F8F9FF"/>
          </a:solidFill>
          <a:ln>
            <a:solidFill>
              <a:srgbClr val="F8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5F6368"/>
                </a:solidFill>
                <a:latin typeface="Arial"/>
              </a:rPr>
              <a:t>~15 min</a:t>
            </a:r>
          </a:p>
        </p:txBody>
      </p:sp>
      <p:sp>
        <p:nvSpPr>
          <p:cNvPr id="5" name="TextBox 4"/>
          <p:cNvSpPr txBox="1"/>
          <p:nvPr/>
        </p:nvSpPr>
        <p:spPr>
          <a:xfrm>
            <a:off x="950000" y="2350000"/>
            <a:ext cx="2500000" cy="7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per scenario handled by a human agent today</a:t>
            </a:r>
          </a:p>
        </p:txBody>
      </p:sp>
      <p:sp>
        <p:nvSpPr>
          <p:cNvPr id="6" name="Rounded Rectangle 5"/>
          <p:cNvSpPr/>
          <p:nvPr/>
        </p:nvSpPr>
        <p:spPr>
          <a:xfrm>
            <a:off x="3750000" y="1550000"/>
            <a:ext cx="2700000" cy="700000"/>
          </a:xfrm>
          <a:prstGeom prst="roundRect">
            <a:avLst/>
          </a:prstGeom>
          <a:solidFill>
            <a:srgbClr val="F8F9FF"/>
          </a:solidFill>
          <a:ln>
            <a:solidFill>
              <a:srgbClr val="F8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F9D58"/>
                </a:solidFill>
                <a:latin typeface="Arial"/>
              </a:rPr>
              <a:t>0.98 ms</a:t>
            </a:r>
          </a:p>
        </p:txBody>
      </p:sp>
      <p:sp>
        <p:nvSpPr>
          <p:cNvPr id="7" name="TextBox 6"/>
          <p:cNvSpPr txBox="1"/>
          <p:nvPr/>
        </p:nvSpPr>
        <p:spPr>
          <a:xfrm>
            <a:off x="3900000" y="2350000"/>
            <a:ext cx="2500000" cy="7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P95 to return a validated, deeplinked plan</a:t>
            </a:r>
          </a:p>
        </p:txBody>
      </p:sp>
      <p:sp>
        <p:nvSpPr>
          <p:cNvPr id="8" name="Rounded Rectangle 7"/>
          <p:cNvSpPr/>
          <p:nvPr/>
        </p:nvSpPr>
        <p:spPr>
          <a:xfrm>
            <a:off x="6700000" y="1550000"/>
            <a:ext cx="2700000" cy="700000"/>
          </a:xfrm>
          <a:prstGeom prst="roundRect">
            <a:avLst/>
          </a:prstGeom>
          <a:solidFill>
            <a:srgbClr val="F8F9FF"/>
          </a:solidFill>
          <a:ln>
            <a:solidFill>
              <a:srgbClr val="F8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F9D58"/>
                </a:solidFill>
                <a:latin typeface="Arial"/>
              </a:rPr>
              <a:t>$0.00</a:t>
            </a:r>
          </a:p>
        </p:txBody>
      </p:sp>
      <p:sp>
        <p:nvSpPr>
          <p:cNvPr id="9" name="TextBox 8"/>
          <p:cNvSpPr txBox="1"/>
          <p:nvPr/>
        </p:nvSpPr>
        <p:spPr>
          <a:xfrm>
            <a:off x="6850000" y="2350000"/>
            <a:ext cx="2500000" cy="7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inference cost per served query</a:t>
            </a:r>
          </a:p>
        </p:txBody>
      </p:sp>
      <p:sp>
        <p:nvSpPr>
          <p:cNvPr id="10" name="Rounded Rectangle 9"/>
          <p:cNvSpPr/>
          <p:nvPr/>
        </p:nvSpPr>
        <p:spPr>
          <a:xfrm>
            <a:off x="9650000" y="1550000"/>
            <a:ext cx="2700000" cy="700000"/>
          </a:xfrm>
          <a:prstGeom prst="roundRect">
            <a:avLst/>
          </a:prstGeom>
          <a:solidFill>
            <a:srgbClr val="F8F9FF"/>
          </a:solidFill>
          <a:ln>
            <a:solidFill>
              <a:srgbClr val="F8F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1428A0"/>
                </a:solidFill>
                <a:latin typeface="Arial"/>
              </a:rPr>
              <a:t>1 tap</a:t>
            </a:r>
          </a:p>
        </p:txBody>
      </p:sp>
      <p:sp>
        <p:nvSpPr>
          <p:cNvPr id="11" name="TextBox 10"/>
          <p:cNvSpPr txBox="1"/>
          <p:nvPr/>
        </p:nvSpPr>
        <p:spPr>
          <a:xfrm>
            <a:off x="9800000" y="2350000"/>
            <a:ext cx="2500000" cy="7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from advice to the exact Settings screen</a:t>
            </a:r>
          </a:p>
        </p:txBody>
      </p:sp>
      <p:sp>
        <p:nvSpPr>
          <p:cNvPr id="12" name="TextBox 11"/>
          <p:cNvSpPr txBox="1"/>
          <p:nvPr/>
        </p:nvSpPr>
        <p:spPr>
          <a:xfrm>
            <a:off x="800000" y="3200000"/>
            <a:ext cx="10592000" cy="3400000"/>
          </a:xfrm>
          <a:prstGeom prst="rect">
            <a:avLst/>
          </a:prstGeom>
          <a:noFill/>
        </p:spPr>
        <p:txBody>
          <a:bodyPr wrap="square" lIns="0" rIns="0" tIns="0" bIns="0">
            <a:spAutoFit/>
          </a:bodyPr>
          <a:lstStyle/>
          <a:p>
            <a:pPr algn="l">
              <a:lnSpc>
                <a:spcPct val="115000"/>
              </a:lnSpc>
            </a:pPr>
            <a:r>
              <a:rPr sz="1300" b="0">
                <a:solidFill>
                  <a:srgbClr val="202124"/>
                </a:solidFill>
                <a:latin typeface="Arial"/>
              </a:rPr>
              <a:t>Where it earns its place</a:t>
            </a:r>
          </a:p>
          <a:p>
            <a:pPr algn="l">
              <a:lnSpc>
                <a:spcPct val="115000"/>
              </a:lnSpc>
            </a:pPr>
            <a:r>
              <a:rPr sz="1300" b="0">
                <a:solidFill>
                  <a:srgbClr val="202124"/>
                </a:solidFill>
                <a:latin typeface="Arial"/>
              </a:rPr>
              <a:t>Every public complaint that already has a knowledge-base article becomes a one-tap fix. That is the highest-volume, lowest-drama slice of support traffic, and it is exactly where a 15-minute human triage step is pure cost.</a:t>
            </a:r>
          </a:p>
          <a:p>
            <a:pPr algn="l">
              <a:lnSpc>
                <a:spcPct val="115000"/>
              </a:lnSpc>
            </a:pPr>
          </a:p>
          <a:p>
            <a:pPr algn="l">
              <a:lnSpc>
                <a:spcPct val="115000"/>
              </a:lnSpc>
            </a:pPr>
            <a:r>
              <a:rPr sz="1300" b="0">
                <a:solidFill>
                  <a:srgbClr val="202124"/>
                </a:solidFill>
                <a:latin typeface="Arial"/>
              </a:rPr>
              <a:t>Why the cost curve bends the right way</a:t>
            </a:r>
          </a:p>
          <a:p>
            <a:pPr algn="l">
              <a:lnSpc>
                <a:spcPct val="115000"/>
              </a:lnSpc>
            </a:pPr>
            <a:r>
              <a:rPr sz="1300" b="0">
                <a:solidFill>
                  <a:srgbClr val="202124"/>
                </a:solidFill>
                <a:latin typeface="Arial"/>
              </a:rPr>
              <a:t>Unit cost scales with the size of the knowledge base, not with request volume. The millionth query costs the same as the first — nothing. Conventional per-request designs get more expensive as they get more popular; this one gets cheaper per query with every article compiled.</a:t>
            </a:r>
          </a:p>
          <a:p>
            <a:pPr algn="l">
              <a:lnSpc>
                <a:spcPct val="115000"/>
              </a:lnSpc>
            </a:pPr>
          </a:p>
          <a:p>
            <a:pPr algn="l">
              <a:lnSpc>
                <a:spcPct val="115000"/>
              </a:lnSpc>
            </a:pPr>
            <a:r>
              <a:rPr sz="1300" b="0">
                <a:solidFill>
                  <a:srgbClr val="202124"/>
                </a:solidFill>
                <a:latin typeface="Arial"/>
              </a:rPr>
              <a:t>Beyond consumer support</a:t>
            </a:r>
          </a:p>
          <a:p>
            <a:pPr algn="l">
              <a:lnSpc>
                <a:spcPct val="115000"/>
              </a:lnSpc>
            </a:pPr>
            <a:r>
              <a:rPr sz="1300" b="0">
                <a:solidFill>
                  <a:srgbClr val="202124"/>
                </a:solidFill>
                <a:latin typeface="Arial"/>
              </a:rPr>
              <a:t>The same atlas serves a call-centre agent tool, an in-store demo device, and an SDK for partner apps. The compile lane is where domain adaptation happens — new corpus in, new atlas out, serving path untouched.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600" b="1">
                <a:solidFill>
                  <a:srgbClr val="1428A0"/>
                </a:solidFill>
                <a:latin typeface="Arial"/>
              </a:rPr>
              <a:t>Innovation Highlights, Results and Limitations</a:t>
            </a:r>
          </a:p>
        </p:txBody>
      </p:sp>
      <p:pic>
        <p:nvPicPr>
          <p:cNvPr id="3" name="Picture 2" descr="fig7_hygiene.png"/>
          <p:cNvPicPr>
            <a:picLocks noChangeAspect="1"/>
          </p:cNvPicPr>
          <p:nvPr/>
        </p:nvPicPr>
        <p:blipFill>
          <a:blip r:embed="rId2"/>
          <a:stretch>
            <a:fillRect/>
          </a:stretch>
        </p:blipFill>
        <p:spPr>
          <a:xfrm>
            <a:off x="1167508" y="1000000"/>
            <a:ext cx="9856984" cy="3400000"/>
          </a:xfrm>
          <a:prstGeom prst="rect">
            <a:avLst/>
          </a:prstGeom>
        </p:spPr>
      </p:pic>
      <p:sp>
        <p:nvSpPr>
          <p:cNvPr id="4" name="TextBox 3"/>
          <p:cNvSpPr txBox="1"/>
          <p:nvPr/>
        </p:nvSpPr>
        <p:spPr>
          <a:xfrm>
            <a:off x="800000" y="4600000"/>
            <a:ext cx="10592000" cy="1000000"/>
          </a:xfrm>
          <a:prstGeom prst="rect">
            <a:avLst/>
          </a:prstGeom>
          <a:noFill/>
        </p:spPr>
        <p:txBody>
          <a:bodyPr wrap="square" lIns="0" rIns="0" tIns="0" bIns="0">
            <a:spAutoFit/>
          </a:bodyPr>
          <a:lstStyle/>
          <a:p>
            <a:pPr algn="l">
              <a:lnSpc>
                <a:spcPct val="115000"/>
              </a:lnSpc>
            </a:pPr>
            <a:r>
              <a:rPr sz="1200" b="0">
                <a:solidFill>
                  <a:srgbClr val="202124"/>
                </a:solidFill>
                <a:latin typeface="Arial"/>
              </a:rPr>
              <a:t>Innovation:   the compile/serve split (every guide stage hoisted to build time)   ·   target+polarity deeplink resolution with a precision gate that declines rather than guesses   ·   intent-scoped cache keys instead of string keys   ·   multi-intent fan-out using the contract's own contexts list   ·   provenance spans for every emitted step</a:t>
            </a:r>
          </a:p>
        </p:txBody>
      </p:sp>
      <p:sp>
        <p:nvSpPr>
          <p:cNvPr id="5" name="TextBox 4"/>
          <p:cNvSpPr txBox="1"/>
          <p:nvPr/>
        </p:nvSpPr>
        <p:spPr>
          <a:xfrm>
            <a:off x="800000" y="5650000"/>
            <a:ext cx="10592000" cy="900000"/>
          </a:xfrm>
          <a:prstGeom prst="rect">
            <a:avLst/>
          </a:prstGeom>
          <a:noFill/>
        </p:spPr>
        <p:txBody>
          <a:bodyPr wrap="square" lIns="0" rIns="0" tIns="0" bIns="0">
            <a:spAutoFit/>
          </a:bodyPr>
          <a:lstStyle/>
          <a:p>
            <a:pPr algn="l">
              <a:lnSpc>
                <a:spcPct val="115000"/>
              </a:lnSpc>
            </a:pPr>
            <a:r>
              <a:rPr sz="1150" b="0">
                <a:solidFill>
                  <a:srgbClr val="5F6368"/>
                </a:solidFill>
                <a:latin typeface="Arial"/>
              </a:rPr>
              <a:t>Limitations, stated plainly:   paraphrase cache recall is 34.2% on genuinely novel wording against the guide's 80% target — the margin gate is tuned conservative and prefers a miss to a wrong plan (13.3% wrong-serve on that population). The cause is measured, not guessed: measured in tools/tune_gate.py, buying recall back to 73.2% costs 53.0% wrong-serve, so the gate ships precision-first. Deeplink coverage is 63.9% of actions: the rest decline to the documented placeholder because the catalog does not index that screen, which we treat as correct behaviour rather than pretend otherwise.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What's Next</a:t>
            </a:r>
          </a:p>
        </p:txBody>
      </p:sp>
      <p:sp>
        <p:nvSpPr>
          <p:cNvPr id="3" name="TextBox 2"/>
          <p:cNvSpPr txBox="1"/>
          <p:nvPr/>
        </p:nvSpPr>
        <p:spPr>
          <a:xfrm>
            <a:off x="800000" y="1150000"/>
            <a:ext cx="10592000" cy="5100000"/>
          </a:xfrm>
          <a:prstGeom prst="rect">
            <a:avLst/>
          </a:prstGeom>
          <a:noFill/>
        </p:spPr>
        <p:txBody>
          <a:bodyPr wrap="square" lIns="0" rIns="0" tIns="0" bIns="0">
            <a:spAutoFit/>
          </a:bodyPr>
          <a:lstStyle/>
          <a:p>
            <a:pPr algn="l">
              <a:lnSpc>
                <a:spcPct val="115000"/>
              </a:lnSpc>
            </a:pPr>
            <a:r>
              <a:rPr sz="1350" b="0">
                <a:solidFill>
                  <a:srgbClr val="202124"/>
                </a:solidFill>
                <a:latin typeface="Arial"/>
              </a:rPr>
              <a:t>1 · Close the paraphrase gap</a:t>
            </a:r>
          </a:p>
          <a:p>
            <a:pPr algn="l">
              <a:lnSpc>
                <a:spcPct val="115000"/>
              </a:lnSpc>
            </a:pPr>
            <a:r>
              <a:rPr sz="1350" b="0">
                <a:solidFill>
                  <a:srgbClr val="202124"/>
                </a:solidFill>
                <a:latin typeface="Arial"/>
              </a:rPr>
              <a:t>Replace the n-gram encoder with the Model2Vec static encoder already wired behind the same interface (the dependency is installed and the class ships in this repo; the swap is one argument). Re-tune the margin gate against a held-out paraphrase set rather than a generated one.</a:t>
            </a:r>
          </a:p>
          <a:p>
            <a:pPr algn="l">
              <a:lnSpc>
                <a:spcPct val="115000"/>
              </a:lnSpc>
            </a:pPr>
          </a:p>
          <a:p>
            <a:pPr algn="l">
              <a:lnSpc>
                <a:spcPct val="115000"/>
              </a:lnSpc>
            </a:pPr>
            <a:r>
              <a:rPr sz="1350" b="0">
                <a:solidFill>
                  <a:srgbClr val="202124"/>
                </a:solidFill>
                <a:latin typeface="Arial"/>
              </a:rPr>
              <a:t>2 · Raise deeplink coverage honestly</a:t>
            </a:r>
          </a:p>
          <a:p>
            <a:pPr algn="l">
              <a:lnSpc>
                <a:spcPct val="115000"/>
              </a:lnSpc>
            </a:pPr>
            <a:r>
              <a:rPr sz="1350" b="0">
                <a:solidFill>
                  <a:srgbClr val="202124"/>
                </a:solidFill>
                <a:latin typeface="Arial"/>
              </a:rPr>
              <a:t>The 36.1% that decline are screens the catalog does not index. Log every decline with its target name — that log is a ranked backlog of catalog entries worth adding. A production loop would feed it back.</a:t>
            </a:r>
          </a:p>
          <a:p>
            <a:pPr algn="l">
              <a:lnSpc>
                <a:spcPct val="115000"/>
              </a:lnSpc>
            </a:pPr>
          </a:p>
          <a:p>
            <a:pPr algn="l">
              <a:lnSpc>
                <a:spcPct val="115000"/>
              </a:lnSpc>
            </a:pPr>
            <a:r>
              <a:rPr sz="1350" b="0">
                <a:solidFill>
                  <a:srgbClr val="202124"/>
                </a:solidFill>
                <a:latin typeface="Arial"/>
              </a:rPr>
              <a:t>3 · Grow the corpus without touching the serving path</a:t>
            </a:r>
          </a:p>
          <a:p>
            <a:pPr algn="l">
              <a:lnSpc>
                <a:spcPct val="115000"/>
              </a:lnSpc>
            </a:pPr>
            <a:r>
              <a:rPr sz="1350" b="0">
                <a:solidFill>
                  <a:srgbClr val="202124"/>
                </a:solidFill>
                <a:latin typeface="Arial"/>
              </a:rPr>
              <a:t>The atlas is versioned and content-hashed, so a new SIIS revision is a rebuild, not a redeploy. The scale target is 10k+ scenarios; nothing in the architecture assumes 20.</a:t>
            </a:r>
          </a:p>
          <a:p>
            <a:pPr algn="l">
              <a:lnSpc>
                <a:spcPct val="115000"/>
              </a:lnSpc>
            </a:pPr>
          </a:p>
          <a:p>
            <a:pPr algn="l">
              <a:lnSpc>
                <a:spcPct val="115000"/>
              </a:lnSpc>
            </a:pPr>
            <a:r>
              <a:rPr sz="1350" b="0">
                <a:solidFill>
                  <a:srgbClr val="202124"/>
                </a:solidFill>
                <a:latin typeface="Arial"/>
              </a:rPr>
              <a:t>4 · Multilingual entry</a:t>
            </a:r>
          </a:p>
          <a:p>
            <a:pPr algn="l">
              <a:lnSpc>
                <a:spcPct val="115000"/>
              </a:lnSpc>
            </a:pPr>
            <a:r>
              <a:rPr sz="1350" b="0">
                <a:solidFill>
                  <a:srgbClr val="202124"/>
                </a:solidFill>
                <a:latin typeface="Arial"/>
              </a:rPr>
              <a:t>Normalisation and intent extraction sit behind one interface, so a language-specific normaliser is the only component that changes.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Brownie Points — differentiation</a:t>
            </a:r>
          </a:p>
        </p:txBody>
      </p:sp>
      <p:pic>
        <p:nvPicPr>
          <p:cNvPr id="3" name="Picture 2" descr="fig8_multi_intent.png"/>
          <p:cNvPicPr>
            <a:picLocks noChangeAspect="1"/>
          </p:cNvPicPr>
          <p:nvPr/>
        </p:nvPicPr>
        <p:blipFill>
          <a:blip r:embed="rId2"/>
          <a:stretch>
            <a:fillRect/>
          </a:stretch>
        </p:blipFill>
        <p:spPr>
          <a:xfrm>
            <a:off x="2692110" y="1000000"/>
            <a:ext cx="6807780" cy="3100000"/>
          </a:xfrm>
          <a:prstGeom prst="rect">
            <a:avLst/>
          </a:prstGeom>
        </p:spPr>
      </p:pic>
      <p:sp>
        <p:nvSpPr>
          <p:cNvPr id="4" name="TextBox 3"/>
          <p:cNvSpPr txBox="1"/>
          <p:nvPr/>
        </p:nvSpPr>
        <p:spPr>
          <a:xfrm>
            <a:off x="800000" y="4300000"/>
            <a:ext cx="10592000" cy="2400000"/>
          </a:xfrm>
          <a:prstGeom prst="rect">
            <a:avLst/>
          </a:prstGeom>
          <a:noFill/>
        </p:spPr>
        <p:txBody>
          <a:bodyPr wrap="square" lIns="0" rIns="0" tIns="0" bIns="0">
            <a:spAutoFit/>
          </a:bodyPr>
          <a:lstStyle/>
          <a:p>
            <a:pPr algn="l">
              <a:lnSpc>
                <a:spcPct val="115000"/>
              </a:lnSpc>
            </a:pPr>
            <a:r>
              <a:rPr sz="1250" b="0">
                <a:solidFill>
                  <a:srgbClr val="202124"/>
                </a:solidFill>
                <a:latin typeface="Arial"/>
              </a:rPr>
              <a:t>Multi-intent fan-out:  the contract's contexts list is a list. A single utterance that hides three disjoint problems returns three ranked Goals in one response — measured on 27 of 812 harness requests.</a:t>
            </a:r>
          </a:p>
          <a:p>
            <a:pPr algn="l">
              <a:lnSpc>
                <a:spcPct val="115000"/>
              </a:lnSpc>
            </a:pPr>
            <a:r>
              <a:rPr sz="1250" b="0">
                <a:solidFill>
                  <a:srgbClr val="202124"/>
                </a:solidFill>
                <a:latin typeface="Arial"/>
              </a:rPr>
              <a:t>Precision gate:  we decline to the documented placeholder rather than emit a deeplink we cannot justify. Precision over coverage, measured and reported.</a:t>
            </a:r>
          </a:p>
          <a:p>
            <a:pPr algn="l">
              <a:lnSpc>
                <a:spcPct val="115000"/>
              </a:lnSpc>
            </a:pPr>
            <a:r>
              <a:rPr sz="1250" b="0">
                <a:solidFill>
                  <a:srgbClr val="202124"/>
                </a:solidFill>
                <a:latin typeface="Arial"/>
              </a:rPr>
              <a:t>Provenance:  every emitted step carries the character span of the SIIS text it came from. No hallucinated steps is a checkable claim, not an assertion.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00000" y="300000"/>
            <a:ext cx="10792000" cy="700000"/>
          </a:xfrm>
          <a:prstGeom prst="rect">
            <a:avLst/>
          </a:prstGeom>
          <a:noFill/>
        </p:spPr>
        <p:txBody>
          <a:bodyPr wrap="square" lIns="0" rIns="0" tIns="0" bIns="0">
            <a:spAutoFit/>
          </a:bodyPr>
          <a:lstStyle/>
          <a:p>
            <a:pPr algn="l">
              <a:lnSpc>
                <a:spcPct val="115000"/>
              </a:lnSpc>
            </a:pPr>
            <a:r>
              <a:rPr sz="2700" b="1">
                <a:solidFill>
                  <a:srgbClr val="1428A0"/>
                </a:solidFill>
                <a:latin typeface="Arial"/>
              </a:rPr>
              <a:t>Measured results</a:t>
            </a:r>
          </a:p>
        </p:txBody>
      </p:sp>
      <p:pic>
        <p:nvPicPr>
          <p:cNvPr id="3" name="Picture 2" descr="fig5_latency.png"/>
          <p:cNvPicPr>
            <a:picLocks noChangeAspect="1"/>
          </p:cNvPicPr>
          <p:nvPr/>
        </p:nvPicPr>
        <p:blipFill>
          <a:blip r:embed="rId2"/>
          <a:stretch>
            <a:fillRect/>
          </a:stretch>
        </p:blipFill>
        <p:spPr>
          <a:xfrm>
            <a:off x="2899238" y="1000000"/>
            <a:ext cx="6393523" cy="2600000"/>
          </a:xfrm>
          <a:prstGeom prst="rect">
            <a:avLst/>
          </a:prstGeom>
        </p:spPr>
      </p:pic>
      <p:pic>
        <p:nvPicPr>
          <p:cNvPr id="4" name="Picture 3" descr="fig6_ablation.png"/>
          <p:cNvPicPr>
            <a:picLocks noChangeAspect="1"/>
          </p:cNvPicPr>
          <p:nvPr/>
        </p:nvPicPr>
        <p:blipFill>
          <a:blip r:embed="rId3"/>
          <a:stretch>
            <a:fillRect/>
          </a:stretch>
        </p:blipFill>
        <p:spPr>
          <a:xfrm>
            <a:off x="3294516" y="3750000"/>
            <a:ext cx="5602967" cy="26000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Binny Lakra/PRISM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